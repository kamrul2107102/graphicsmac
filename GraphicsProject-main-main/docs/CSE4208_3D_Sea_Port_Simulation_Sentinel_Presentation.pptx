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987552"/>
            <a:ext cx="10765231" cy="415137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72865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188720"/>
            <a:ext cx="999713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C4B6"/>
                </a:solidFill>
              </a:defRPr>
            </a:pPr>
            <a:r>
              <a:t>KHULNA UNIVERSITY OF ENGINEERING &amp; TECHNOLOGY  ·  CSE 4208</a:t>
            </a:r>
          </a:p>
          <a:p>
            <a:pPr>
              <a:spcBef>
                <a:spcPts val="2000"/>
              </a:spcBef>
              <a:defRPr sz="4600" b="1">
                <a:solidFill>
                  <a:srgbClr val="FFFFFF"/>
                </a:solidFill>
              </a:defRPr>
            </a:pPr>
            <a:r>
              <a:t>SeaPort 3D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A Fully Procedural Simulation and Interactive Logistics Engine</a:t>
            </a:r>
          </a:p>
          <a:p>
            <a:pPr>
              <a:spcBef>
                <a:spcPts val="1400"/>
              </a:spcBef>
              <a:defRPr sz="1300" i="1">
                <a:solidFill>
                  <a:srgbClr val="2EC4B6"/>
                </a:solidFill>
                <a:latin typeface="Georgia"/>
              </a:defRPr>
            </a:pPr>
            <a:r>
              <a:t>Nothing is loaded from a 3D model, image or asset file: everything is generated procedurally from C++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Md. Kamrul Hasan</a:t>
            </a:r>
            <a:br/>
            <a:r>
              <a:t>Roll 2107102 · 4th Year 1st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2422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Instructors: Computer Graphics &amp; Image Processing Laboratory</a:t>
            </a:r>
            <a:br/>
            <a:r>
              <a:t>Department of Computer Science and Engineering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6217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1   </a:t>
            </a:r>
            <a:r>
              <a:rPr sz="1250">
                <a:solidFill>
                  <a:srgbClr val="FFFFFF"/>
                </a:solidFill>
              </a:rPr>
              <a:t>Problem, objectives and architecture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2   </a:t>
            </a:r>
            <a:r>
              <a:rPr sz="1250">
                <a:solidFill>
                  <a:srgbClr val="FFFFFF"/>
                </a:solidFill>
              </a:rPr>
              <a:t>Procedural shapes and mathematical quadrics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3   </a:t>
            </a:r>
            <a:r>
              <a:rPr sz="1250">
                <a:solidFill>
                  <a:srgbClr val="FFFFFF"/>
                </a:solidFill>
              </a:rPr>
              <a:t>Transformations: creating and combining objects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4   </a:t>
            </a:r>
            <a:r>
              <a:rPr sz="1250">
                <a:solidFill>
                  <a:srgbClr val="FFFFFF"/>
                </a:solidFill>
              </a:rPr>
              <a:t>Illumination models and light sources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5   </a:t>
            </a:r>
            <a:r>
              <a:rPr sz="1250">
                <a:solidFill>
                  <a:srgbClr val="FFFFFF"/>
                </a:solidFill>
              </a:rPr>
              <a:t>Night cycle &amp; multi-point light attenuation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6   </a:t>
            </a:r>
            <a:r>
              <a:rPr sz="1250">
                <a:solidFill>
                  <a:srgbClr val="FFFFFF"/>
                </a:solidFill>
              </a:rPr>
              <a:t>Focused crane spotlight &amp; atmospheric fog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7   </a:t>
            </a:r>
            <a:r>
              <a:rPr sz="1250">
                <a:solidFill>
                  <a:srgbClr val="FFFFFF"/>
                </a:solidFill>
              </a:rPr>
              <a:t>Shading comparison: Gouraud vs. Phong fidelity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8   </a:t>
            </a:r>
            <a:r>
              <a:rPr sz="1250">
                <a:solidFill>
                  <a:srgbClr val="FFFFFF"/>
                </a:solidFill>
              </a:rPr>
              <a:t>Interactive crane kinematics &amp; 1st-person cockpit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 9   </a:t>
            </a:r>
            <a:r>
              <a:rPr sz="1250">
                <a:solidFill>
                  <a:srgbClr val="FFFFFF"/>
                </a:solidFill>
              </a:rPr>
              <a:t>3-perspective cameras &amp; intermodal logistics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10   </a:t>
            </a:r>
            <a:r>
              <a:rPr sz="1250">
                <a:solidFill>
                  <a:srgbClr val="FFFFFF"/>
                </a:solidFill>
              </a:rPr>
              <a:t>Advanced bonus: real-time screen-space ray tracing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Consolas"/>
              </a:rPr>
              <a:t>11   </a:t>
            </a:r>
            <a:r>
              <a:rPr sz="1250">
                <a:solidFill>
                  <a:srgbClr val="FFFFFF"/>
                </a:solidFill>
              </a:rPr>
              <a:t>Results, verification, bug fixes and performance budget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4032" y="1216152"/>
            <a:ext cx="4334256" cy="236829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quayside_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34440"/>
            <a:ext cx="429768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3602736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STS Gantry Crane &amp; Dockside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4032" y="3822192"/>
            <a:ext cx="4334256" cy="236829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night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840480"/>
            <a:ext cx="429768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6208776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Night Illumination, Streetlamps &amp; Crane Spotlight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Problem, objectives and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Can a complete, playable 3D sea port engine be made by code alone on a student laptop?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029200" cy="192024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TWO HARD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  <a:latin typeface="Arial"/>
              </a:rPr>
              <a:t>▪ No external 3D model, image texture or precomputed asset file.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Standard OpenGL 3.3 Core Profile:</a:t>
            </a:r>
            <a:r>
              <a:rPr b="0" sz="1100">
                <a:solidFill>
                  <a:srgbClr val="E2E8F0"/>
                </a:solidFill>
                <a:latin typeface="Arial"/>
              </a:rPr>
              <a:t> zero game engines, zero compute shaders.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029200" cy="192024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58767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Layered engine architecture with strict downward dependencies.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100% of visual content generated from code and trigonometric math.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Modern forward shader renderer with full day/night cycle and shadow logic.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Verified by objective benchmarks and a 16.7 ms (60 FPS) frame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5394960" cy="3977639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801368"/>
            <a:ext cx="5065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rial"/>
              </a:defRPr>
            </a:pPr>
            <a:r>
              <a:t>LAYERED ENGINE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  <a:latin typeface="Consolas"/>
              </a:defRPr>
            </a:pPr>
            <a:r>
              <a:t>  [6]  Game mission, AI vessels, logistics scoring, sound</a:t>
            </a:r>
          </a:p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  <a:latin typeface="Consolas"/>
              </a:defRPr>
            </a:pPr>
            <a:r>
              <a:t>  [5]  Render: forward Phong/Gouraud, multi-lights, sky dome</a:t>
            </a:r>
          </a:p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  <a:latin typeface="Consolas"/>
              </a:defRPr>
            </a:pPr>
            <a:r>
              <a:t>  [4]  World collision, camera systems (1st-person &amp; 3rd-person)</a:t>
            </a:r>
          </a:p>
          <a:p>
            <a:pPr>
              <a:spcAft>
                <a:spcPts val="1000"/>
              </a:spcAft>
              <a:defRPr sz="1100" b="1">
                <a:solidFill>
                  <a:srgbClr val="2EC4B6"/>
                </a:solidFill>
                <a:latin typeface="Consolas"/>
              </a:defRPr>
            </a:pPr>
            <a:r>
              <a:t>  [3]  Procedural quadrics, parametric buoys, cones, water grid</a:t>
            </a:r>
          </a:p>
          <a:p>
            <a:pPr>
              <a:spcAft>
                <a:spcPts val="1000"/>
              </a:spcAft>
              <a:defRPr sz="1100" b="1">
                <a:solidFill>
                  <a:srgbClr val="2EC4B6"/>
                </a:solidFill>
                <a:latin typeface="Consolas"/>
              </a:defRPr>
            </a:pPr>
            <a:r>
              <a:t>  [2]  GPU GLSL shaders, VAO / VBO vertex buffers</a:t>
            </a:r>
          </a:p>
          <a:p>
            <a:pPr>
              <a:spcAft>
                <a:spcPts val="1000"/>
              </a:spcAft>
              <a:defRPr sz="1100" b="1">
                <a:solidFill>
                  <a:srgbClr val="2EC4B6"/>
                </a:solidFill>
                <a:latin typeface="Consolas"/>
              </a:defRPr>
            </a:pPr>
            <a:r>
              <a:t>  [1]  Platform GLFW window, input handling, OpenGL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52160"/>
            <a:ext cx="10728655" cy="594360"/>
          </a:xfrm>
          <a:prstGeom prst="rect">
            <a:avLst/>
          </a:prstGeom>
          <a:solidFill>
            <a:srgbClr val="111C2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The simulation: STS gantry crane, drivable cargo lorry, bascule drawbridge, container ships, lighthouse; 5-objective port management mission; all visual geometry synthesised.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Procedural shapes and mathematical quadrics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237744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9844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ANALYTICAL CONE QUADRIC (PARAMETRIC RINGS)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49743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x(u, v) = r * (1 - v/h) * cos(u)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y(u, v) = v,   v in [0, h]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z(u, v) = r * (1 - v/h) * sin(u)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n_hat = normalize(cos(u), r/h, sin(u))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Trigonometric vertex rings generated on CPU with analytical outward normals.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303520" cy="246888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0448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SINUSOIDAL WATER WAVE SYNTHESIZER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78808"/>
            <a:ext cx="49743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y(x, z, t) = Sum [ A_i * sin(k_i * (x, z) - w_i * t) ]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n_x = - Sum [ A_i * k_ix * cos(k_i * (x, z) - w_i * t) ]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n_z = - Sum [ A_i * k_iz * cos(k_i * (x, z) - w_i * t) ]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n_hat = normalize(vec3(n_x, 1.0, n_z))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Dynamic surface displacement and normal recomputation per 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150815" cy="237744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298448"/>
            <a:ext cx="48216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GEOMETRIC ASSET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7 Procedural Primitives:</a:t>
            </a:r>
            <a:r>
              <a:rPr b="0" sz="1100">
                <a:solidFill>
                  <a:srgbClr val="E2E8F0"/>
                </a:solidFill>
                <a:latin typeface="Arial"/>
              </a:rPr>
              <a:t> Cube, Cylinder, Sphere, Quadric Cone, Ring Quadric, Sky Dome, Water Grid.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Maritime Channel Buoys:</a:t>
            </a:r>
            <a:r>
              <a:rPr b="0" sz="1100">
                <a:solidFill>
                  <a:srgbClr val="E2E8F0"/>
                </a:solidFill>
                <a:latin typeface="Arial"/>
              </a:rPr>
              <a:t> Starboard Green and Port Red conical floating navigation markers.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Roadway Traffic Cones:</a:t>
            </a:r>
            <a:r>
              <a:rPr b="0" sz="1100">
                <a:solidFill>
                  <a:srgbClr val="E2E8F0"/>
                </a:solidFill>
                <a:latin typeface="Arial"/>
              </a:rPr>
              <a:t> High-visibility orange cones with reflective white safety bands.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Zero File I/O:</a:t>
            </a:r>
            <a:r>
              <a:rPr b="0" sz="1100">
                <a:solidFill>
                  <a:srgbClr val="E2E8F0"/>
                </a:solidFill>
                <a:latin typeface="Arial"/>
              </a:rPr>
              <a:t> Instantaneous engine boot time with zero runtime disk reads.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3776472"/>
            <a:ext cx="5187391" cy="250545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shot_da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794760"/>
            <a:ext cx="5150815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9360" y="6300216"/>
            <a:ext cx="5150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Daytime Port Scene: Water Wave Grid, Navigation Buoys &amp; Quay Structures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Transformations: creating and combining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5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502920"/>
          </a:xfrm>
          <a:prstGeom prst="rect">
            <a:avLst/>
          </a:prstGeom>
          <a:solidFill>
            <a:srgbClr val="111C28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Consolas"/>
              </a:defRPr>
            </a:pPr>
            <a:r>
              <a:t>Primitive Mesh  --&gt;  Local Transform (M_part)  --&gt;  Hierarchy Tree  --&gt;  M_world  --&gt;  View (V)  --&gt;  Projection (P)  --&gt; 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303520" cy="214884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ONE PART: SCALE, THEN ROTATE, THEN TRANSLATE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67128"/>
            <a:ext cx="49743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M_part = T(t) * R_z(gamma) * R_y(beta) * R_x(alpha) * S(s)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Example: (1,0,0) -&gt; S(2,1,1) -&gt; R_y(90 deg) -&gt; T(8,0,13.5)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Applied right-to-left: stretched locally, rotated, then placed in world.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303520" cy="219456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22452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NORMALS USE THE INVERSE TRANSPOSE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498848"/>
            <a:ext cx="49743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n_hat' = normalize( (L^-1)^T * n_hat 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where L = upper-left 3x3 of Model Matrix M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Corrects non-uniform scaling distortion across scaled cylinders/quadrics.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Essential for Blinn-Phong specular glints under asymmetric scaling.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764792"/>
            <a:ext cx="5187391" cy="456285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rane_hierarch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150815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6345936"/>
            <a:ext cx="5150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STS Crane 6-Level Kinematic Transformation Hierarchy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Illumination models and light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6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114300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07008"/>
            <a:ext cx="1039947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DIRECT LIGHT + AMBIENT + EMISSION MASTER EQUATION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103994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L_o = Sum_{j=1..N} [ f(l_j, v) * L_j * att_j * sh_j * max(0, n · l_j) ] + I_amb * k_amb + 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where att_j is distance falloff, sh_j is shadow occlusion factor, and f is the surface BRDF.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303520" cy="393192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SURFACE BRDF FORMULATIONS EVALUATED IN SHADER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497433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[Lambert Diffuse]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f_lamb = c_d / pi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[Classic Phong]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f_phong = c_d/pi + (m+2)/(2*pi) * max(0, r · v)^m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[Blinn-Phong Optimization]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h = normalize(l + v)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f_blinn = c_d/pi + (m+8)/(8*pi) * max(0, n · h)^m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Replaces reflection vector r with halfway vector h for real-time speed.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5150815" cy="393192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87168"/>
            <a:ext cx="48216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rial"/>
              </a:defRPr>
            </a:pPr>
            <a:r>
              <a:t>LIGHT SOURCES IN SCENE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Directional Sunlight:</a:t>
            </a:r>
            <a:r>
              <a:rPr b="0" sz="1100">
                <a:solidFill>
                  <a:srgbClr val="E2E8F0"/>
                </a:solidFill>
                <a:latin typeface="Arial"/>
              </a:rPr>
              <a:t> Physical 3D Sun at 275m altitude, L_sun = normalize(0.35, 0.88, 0.32).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7 Quayside Point Lights:</a:t>
            </a:r>
            <a:r>
              <a:rPr b="0" sz="1100">
                <a:solidFill>
                  <a:srgbClr val="E2E8F0"/>
                </a:solidFill>
                <a:latin typeface="Arial"/>
              </a:rPr>
              <a:t> Sodium street lamps with quadratic attenuation att(d) = 1 / (1 + 0.14d + 0.07d^2).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Crane Trolley Spotlight:</a:t>
            </a:r>
            <a:r>
              <a:rPr b="0" sz="1100">
                <a:solidFill>
                  <a:srgbClr val="E2E8F0"/>
                </a:solidFill>
                <a:latin typeface="Arial"/>
              </a:rPr>
              <a:t> Directional cone pointing (0, -1, 0) with smooth cosine cutoff angles (18 deg inner, 25 deg outer).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Lighthouse Rotating Beam:</a:t>
            </a:r>
            <a:r>
              <a:rPr b="0" sz="1100">
                <a:solidFill>
                  <a:srgbClr val="E2E8F0"/>
                </a:solidFill>
                <a:latin typeface="Arial"/>
              </a:rPr>
              <a:t> Emissive searchlight sweeping 360 deg across harbor fairway.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Night cycle &amp; multi-point light attenuation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7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705856" cy="323697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nigh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6692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425696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Night Scene (Key N): Sodium Streetlamps, Light Pools &amp; 3D Celestial Moon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188720"/>
            <a:ext cx="4876495" cy="320040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1298448"/>
            <a:ext cx="454731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QUADRATIC DISTANCE ATTENUATION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572768"/>
            <a:ext cx="4547311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att(d) = 1.0 / (k_c + k_l * d + k_q * d^2)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Parameters: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k_c = 1.0   (Constant base factor)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k_l = 0.14  (Linear distance factor)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k_q = 0.07  (Quadratic distance factor)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Result: Produces natural localized light pools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on the dock road with zero distant light bleed.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553712"/>
            <a:ext cx="5340096" cy="186537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ght_atten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530352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437376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Quadratic Attenuation Curve (1 / (1 + 0.14d + 0.07d^2))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42255" cy="182880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681728"/>
            <a:ext cx="491307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NOCTURNAL SYSTEM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Dynamic Day/Night Cycle (Key N):</a:t>
            </a:r>
            <a:r>
              <a:rPr b="0" sz="1050">
                <a:solidFill>
                  <a:srgbClr val="E2E8F0"/>
                </a:solidFill>
                <a:latin typeface="Arial"/>
              </a:rPr>
              <a:t> Toggles daytime sun to midnight sky dome with procedural stars.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Luminous 3D Moon:</a:t>
            </a:r>
            <a:r>
              <a:rPr b="0" sz="1050">
                <a:solidFill>
                  <a:srgbClr val="E2E8F0"/>
                </a:solidFill>
                <a:latin typeface="Arial"/>
              </a:rPr>
              <a:t> Emissive celestial body acting as secondary night directional light source.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7 Quayside Street Lamps:</a:t>
            </a:r>
            <a:r>
              <a:rPr b="0" sz="1050">
                <a:solidFill>
                  <a:srgbClr val="E2E8F0"/>
                </a:solidFill>
                <a:latin typeface="Arial"/>
              </a:rPr>
              <a:t> Multi-source light accumulation evaluated concurrently in phong.frag.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Focused crane spotlight &amp; atmospheric fog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8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246888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9844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CRANE TROLLEY SPOTLIGHT (COSINE CUTOFF)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49743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I_spot = clamp( (cos_theta - cos_outer) /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        (cos_inner - cos_outer), 0.0, 1.0 )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Cutoff Angles: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theta_inner = 18.0 deg  --&gt;  cos_inner = 0.951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theta_outer = 25.0 deg  --&gt;  cos_outer = 0.906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Direction: Fixed unit vector (0.0, -1.0, 0.0)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Mounted directly under trolley; tracks downward onto cargo containers.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5020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ATMOSPHERIC DISTANCE FOG (EXPONENTIAL)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24528"/>
            <a:ext cx="49743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C_final = T * C_surface + (1.0 - T) * C_fog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Transmission: T = exp( - k_fog * distance 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k_fog = 0.0035 m^-1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Distance = length(uViewPos - FragPos)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Blends distant water horizon smoothly into sky dome.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Prevents sharp polygon cutoff at the 320m far clipping boundary.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170432"/>
            <a:ext cx="5187391" cy="51572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quayside_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150815" cy="5120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6345936"/>
            <a:ext cx="5150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Quayside STS Crane: Downward Illumination, Fairway Fog &amp; Canal Depth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7. Shading comparison: Gouraud vs. Phong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9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340096" cy="51572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ouraud_vs_p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0352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45936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Gouraud vs Phong Shading: Vertex vs Fragment Pipeline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150815" cy="246888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98448"/>
            <a:ext cx="48216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PHONG SHADING (KEY F2) -- PER-FRAGMENT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Evaluated per-fragment inside phong.frag.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Surface normal vector n_hat is interpolated across rasterized pixels.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Halfway vector h calculated per-pixel for Blinn-Phong specular glints.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Pinpoint specular reflections on metallic containers and water ripples.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5150815" cy="246888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950208"/>
            <a:ext cx="48216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rial"/>
              </a:defRPr>
            </a:pPr>
            <a:r>
              <a:t>GOURAUD SHADING (KEY F1) -- PER-VERTEX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Evaluated per-vertex inside gouraud.vert.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Lighting equations evaluated strictly at triangle vertex points.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Resulting vertex color is linearly interpolated across triangles.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Demonstrates classic Mach banding artifacts across cylindrical masts.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8. Interactive crane kinematics &amp; 1st-person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10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522976" cy="314553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crane_loading_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33425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1st-Person Cabin POV (Key C): Targeting &amp; Locking Cargo from Vessel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88720"/>
            <a:ext cx="4967935" cy="310896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298448"/>
            <a:ext cx="463875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COCKPIT OPTIMIZATION &amp; ZOOM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Repositioned Fairway (Z=0.5m):</a:t>
            </a:r>
            <a:r>
              <a:rPr b="0" sz="1050">
                <a:solidFill>
                  <a:srgbClr val="E2E8F0"/>
                </a:solidFill>
                <a:latin typeface="Arial"/>
              </a:rPr>
              <a:t> Moving container ship 5m out into canal provided an unobstructed 60° downward sightline.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Dynamic Zoom (Scroll / Z, X):</a:t>
            </a:r>
            <a:r>
              <a:rPr b="0" sz="1050">
                <a:solidFill>
                  <a:srgbClr val="E2E8F0"/>
                </a:solidFill>
                <a:latin typeface="Arial"/>
              </a:rPr>
              <a:t> FOV zooms smoothly between 32° (close-up twistlocks) and 85° (wide harbor panorama).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Active Target Beacon:</a:t>
            </a:r>
            <a:r>
              <a:rPr b="0" sz="1050">
                <a:solidFill>
                  <a:srgbClr val="E2E8F0"/>
                </a:solidFill>
                <a:latin typeface="Arial"/>
              </a:rPr>
              <a:t> Pulsing gold-to-green vertical laser beacon guides operator to the designated cargo box.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HUD Telemetry:</a:t>
            </a:r>
            <a:r>
              <a:rPr b="0" sz="1050">
                <a:solidFill>
                  <a:srgbClr val="E2E8F0"/>
                </a:solidFill>
                <a:latin typeface="Arial"/>
              </a:rPr>
              <a:t> Real-time digital readouts for trolley position (m), hook height (m), and payload attachment.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82880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590288"/>
            <a:ext cx="1039947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rial"/>
              </a:defRPr>
            </a:pPr>
            <a:r>
              <a:t>6-LEVEL PARENT-CHILD TRANSFORMATION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▪ Gantry Portal Base --&gt; Slewing Turret (R_y) --&gt; Boom Arm (22m) --&gt; Trolley (Z=-1.5m to 15.5m) --&gt; Hoist Cables (scaled Y) --&gt; Spreader Hook --&gt; Secured Cargo.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Matrix Stacks:</a:t>
            </a:r>
            <a:r>
              <a:rPr b="0" sz="1050">
                <a:solidFill>
                  <a:srgbClr val="E2E8F0"/>
                </a:solidFill>
                <a:latin typeface="Arial"/>
              </a:rPr>
              <a:t> When the operator slews the cab or moves the trolley, all descendant child nodes transform synchronously in relative coordinate space.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9. 3-perspective cameras &amp; intermodal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11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248656" cy="296265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crane_tac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21208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151376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3rd-Person Tactical Orbit (Key V): Mouse Orbit &amp; Hoisted Container on Boom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170432"/>
            <a:ext cx="5248656" cy="296265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lorry_b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212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151376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Dock Unloading Bay (Z=13.5m) &amp; Cargo Lorry on Roadway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498848"/>
            <a:ext cx="1039947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3-CAMERA PERSPECTIVE SYSTEM &amp; QUAYSIDE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Camera Cycling (Key V):</a:t>
            </a:r>
            <a:r>
              <a:rPr b="0" sz="1100">
                <a:solidFill>
                  <a:srgbClr val="E2E8F0"/>
                </a:solidFill>
                <a:latin typeface="Arial"/>
              </a:rPr>
              <a:t> 1st-Person Cabin (Zoomable FOV 32°-85°) &lt;--&gt; 3rd-Person Tactical Orbit (Mouse Look, Distance 10m-65m) &lt;--&gt; Precision Spreader Drop Cam.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Repositioned Unload Bay (Z=13.5m):</a:t>
            </a:r>
            <a:r>
              <a:rPr b="0" sz="1100">
                <a:solidFill>
                  <a:srgbClr val="E2E8F0"/>
                </a:solidFill>
                <a:latin typeface="Arial"/>
              </a:rPr>
              <a:t> Moved clear of gantry legs onto dock road, delivering 100% rear window visibility.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Cargo Deposit &amp; Transfer (Key Space):</a:t>
            </a:r>
            <a:r>
              <a:rPr b="0" sz="1100">
                <a:solidFill>
                  <a:srgbClr val="E2E8F0"/>
                </a:solidFill>
                <a:latin typeface="Arial"/>
              </a:rPr>
              <a:t> Lowers container onto flatbed trailer (+500 points).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▪ Drivable Cargo Lorry (Key L):</a:t>
            </a:r>
            <a:r>
              <a:rPr b="0" sz="1100">
                <a:solidFill>
                  <a:srgbClr val="E2E8F0"/>
                </a:solidFill>
                <a:latin typeface="Arial"/>
              </a:rPr>
              <a:t> Operator jumps into truck cab with Ackerman steering and delivers to Freight Depot (+1000 pts).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Advanced bonus: real-time screen-space ray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12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246888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9844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RAY EQUATION &amp; ANALYTICAL QUADRIC INTERSECTION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49743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P(t) = O + t * D,   t &gt; 0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Sphere: ||P - C||^2 = R^2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Quadratic: a*t^2 + b*t + c = 0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Delta = b^2 - 4ac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t_hit = (-b - sqrt(Delta)) / (2a)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Exact analytical surface intersection evaluated in GLSL fragment shader.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111C28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5020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HARD SHADOWS &amp; RECURSIVE SPECULAR BOUNCES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24528"/>
            <a:ext cx="49743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Shadow Ray: S(s) = P_hit + s * L_dir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If blocked by scene object --&gt; zero direct light.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Reflection: R_refl = D - 2 * (D · N) * 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Traces secondary rays for chrome sphere &amp; ocean.</a:t>
            </a:r>
          </a:p>
          <a:p>
            <a:pPr>
              <a:spcBef>
                <a:spcPts val="400"/>
              </a:spcBef>
            </a:pPr>
            <a:r>
              <a:rPr i="1" sz="950">
                <a:solidFill>
                  <a:srgbClr val="94A3B8"/>
                </a:solidFill>
                <a:latin typeface="Arial"/>
              </a:rPr>
              <a:t>Real-time Whitted ray tracer running at stable 60 FPS in screen-space quad.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170432"/>
            <a:ext cx="5187391" cy="51572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ytrac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150815" cy="5120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6345936"/>
            <a:ext cx="5150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Arial"/>
              </a:defRPr>
            </a:pPr>
            <a:r>
              <a:t>Whitted Ray Tracing Architecture: Primary, Shadow &amp; Reflected Bounces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11. Results, verification, bug fixes and performance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301752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9844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GPU TIME PER PASS (MS)  --  11.2 MS OF 16.7 MS BUDGET (60 FPS)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Terrain &amp; Quay Road     3.80 ms  █████████████</a:t>
            </a:r>
          </a:p>
          <a:p>
            <a:pPr>
              <a:spcAft>
                <a:spcPts val="6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STS Crane &amp; Vessels     4.20 ms  ███████████████</a:t>
            </a:r>
          </a:p>
          <a:p>
            <a:pPr>
              <a:spcAft>
                <a:spcPts val="600"/>
              </a:spcAft>
              <a:defRPr sz="1050">
                <a:solidFill>
                  <a:srgbClr val="2EC4B6"/>
                </a:solidFill>
                <a:latin typeface="Consolas"/>
              </a:defRPr>
            </a:pPr>
            <a:r>
              <a:t>Water Wave &amp; Specular   1.90 ms  ██████</a:t>
            </a:r>
          </a:p>
          <a:p>
            <a:pPr>
              <a:spcAft>
                <a:spcPts val="600"/>
              </a:spcAft>
              <a:defRPr sz="1050">
                <a:solidFill>
                  <a:srgbClr val="2EC4B6"/>
                </a:solidFill>
                <a:latin typeface="Consolas"/>
              </a:defRPr>
            </a:pPr>
            <a:r>
              <a:t>Post, Text &amp; HUD        1.25 ms  ████</a:t>
            </a:r>
          </a:p>
          <a:p>
            <a:pPr>
              <a:spcAft>
                <a:spcPts val="600"/>
              </a:spcAft>
              <a:defRPr sz="1050">
                <a:solidFill>
                  <a:srgbClr val="2EC4B6"/>
                </a:solidFill>
                <a:latin typeface="Consolas"/>
              </a:defRPr>
            </a:pPr>
            <a:r>
              <a:t>Sky Dome &amp; Atmosphere   0.05 ms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303520" cy="196596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5312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rial"/>
              </a:defRPr>
            </a:pPr>
            <a:r>
              <a:t>VERIFICATION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Procedural VAO/VBO Primitives Verified:</a:t>
            </a:r>
            <a:r>
              <a:rPr b="0" sz="1050">
                <a:solidFill>
                  <a:srgbClr val="E2E8F0"/>
                </a:solidFill>
                <a:latin typeface="Arial"/>
              </a:rPr>
              <a:t> 7 geometries.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Matrix Transforms per Frame:</a:t>
            </a:r>
            <a:r>
              <a:rPr b="0" sz="1050">
                <a:solidFill>
                  <a:srgbClr val="E2E8F0"/>
                </a:solidFill>
                <a:latin typeface="Arial"/>
              </a:rPr>
              <a:t> 320+ nodes evaluated.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Fragment Lighting Evaluations:</a:t>
            </a:r>
            <a:r>
              <a:rPr b="0" sz="1050">
                <a:solidFill>
                  <a:srgbClr val="E2E8F0"/>
                </a:solidFill>
                <a:latin typeface="Arial"/>
              </a:rPr>
              <a:t> 48,000+ per frame.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Logistics Playthroughs:</a:t>
            </a:r>
            <a:r>
              <a:rPr b="0" sz="1050">
                <a:solidFill>
                  <a:srgbClr val="E2E8F0"/>
                </a:solidFill>
                <a:latin typeface="Arial"/>
              </a:rPr>
              <a:t> 5/5 objectives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150815" cy="301752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298448"/>
            <a:ext cx="48216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rial"/>
              </a:defRPr>
            </a:pPr>
            <a:r>
              <a:t>BUG FIXED: CABIN LINE-OF-SIGHT &amp; FRUSTUM CLIPPING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Problem:</a:t>
            </a:r>
            <a:r>
              <a:rPr b="0" sz="1050">
                <a:solidFill>
                  <a:srgbClr val="E2E8F0"/>
                </a:solidFill>
                <a:latin typeface="Arial"/>
              </a:rPr>
              <a:t> Vessel at Z=2.4m filled windshield; bay at Z=9.8m was hidden under gantry tracks.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Root Cause:</a:t>
            </a:r>
            <a:r>
              <a:rPr b="0" sz="1050">
                <a:solidFill>
                  <a:srgbClr val="E2E8F0"/>
                </a:solidFill>
                <a:latin typeface="Arial"/>
              </a:rPr>
              <a:t> Insufficient horizontal sightline distance from elevated cab (Y=12m).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Solution:</a:t>
            </a:r>
            <a:r>
              <a:rPr b="0" sz="1050">
                <a:solidFill>
                  <a:srgbClr val="E2E8F0"/>
                </a:solidFill>
                <a:latin typeface="Arial"/>
              </a:rPr>
              <a:t> Repositioned vessel to canal center (Z=0.5m) and unload bay to open road (Z=13.5m).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▪ Result:</a:t>
            </a:r>
            <a:r>
              <a:rPr b="0" sz="1050">
                <a:solidFill>
                  <a:srgbClr val="E2E8F0"/>
                </a:solidFill>
                <a:latin typeface="Arial"/>
              </a:rPr>
              <a:t> Unobstructed 60° forward and rear sightlines with dynamic zoom.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43400"/>
            <a:ext cx="5150815" cy="196596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453128"/>
            <a:ext cx="48216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LIMITS AND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  <a:latin typeface="Arial"/>
              </a:rPr>
              <a:t>▪ Cascaded point-light shadow maps for nocturnal quayside.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  <a:latin typeface="Arial"/>
              </a:rPr>
              <a:t>▪ Dynamic volumetric water foam and vessel wake simulation.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  <a:latin typeface="Arial"/>
              </a:rPr>
              <a:t>▪ Takeaway:</a:t>
            </a:r>
            <a:r>
              <a:rPr b="0" sz="1000">
                <a:solidFill>
                  <a:srgbClr val="E2E8F0"/>
                </a:solidFill>
                <a:latin typeface="Arial"/>
              </a:rPr>
              <a:t> Most computer graphics art is a few simple mathematical ideas, applied consistently and rigorously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12. References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SeaPort 3D · CSE 4208 · KUET   14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26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728655" cy="3200400"/>
          </a:xfrm>
          <a:prstGeom prst="roundRect">
            <a:avLst/>
          </a:prstGeom>
          <a:solidFill>
            <a:srgbClr val="15222E"/>
          </a:solidFill>
          <a:ln w="12700">
            <a:solidFill>
              <a:srgbClr val="26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98448"/>
            <a:ext cx="1039947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Arial"/>
              </a:defRPr>
            </a:pPr>
            <a:r>
              <a:t>ACADEMIC &amp; INDUSTRY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327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[1] J. F. Blinn, 'Models of light reflected surfaces for computer synthesized pictures,' ACM SIGGRAPH, 1977.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[2] H. Gouraud, 'Continuous shading of curved surfaces,' IEEE Transactions on Computers, 1971.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[3] B. T. Phong, 'Illumination for computer generated pictures,' Communications of the ACM, 1975.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[4] T. Whitted, 'An improved illumination model for shaded display,' Communications of the ACM, 1980.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[5] T. Akenine-Möller, E. Haines, and N. Hoffman, Real-Time Rendering, 4th ed., CRC Press, 2018.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[6] Khronos Group, 'The OpenGL Graphics System: A Specification (Version 3.3 Core Profile),' 2010.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[7] B. Karis, 'Real Shading in Unreal Engine 4,' Epic Games, SIGGRAPH Course Notes, 2013.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[8] I. Quilez, 'Raymarching and analytical primitives,' iquilezles.org, 2020.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1522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999713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400">
                <a:solidFill>
                  <a:srgbClr val="2EC4B6"/>
                </a:solidFill>
              </a:defRPr>
            </a:pPr>
            <a:r>
              <a:t>Questions &amp; Technical Discussion are Welcome  ·  Md. Kamrul Hasan (Roll 2107102)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