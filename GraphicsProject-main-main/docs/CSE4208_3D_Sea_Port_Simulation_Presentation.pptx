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822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2656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KHULNA UNIVERSITY OF ENGINEERING &amp; TECHNOLOGY (KUET)</a:t>
            </a:r>
          </a:p>
          <a:p>
            <a:pPr algn="ctr">
              <a:spcAft>
                <a:spcPts val="2000"/>
              </a:spcAft>
              <a:defRPr sz="1200">
                <a:solidFill>
                  <a:srgbClr val="B0BECD"/>
                </a:solidFill>
              </a:defRPr>
            </a:pPr>
            <a:r>
              <a:t>DEPARTMENT OF COMPUTER SCIENCE AND ENGINEERING</a:t>
            </a:r>
          </a:p>
          <a:p>
            <a:pPr algn="ctr">
              <a:spcAft>
                <a:spcPts val="1800"/>
              </a:spcAft>
              <a:defRPr sz="2500" b="1">
                <a:solidFill>
                  <a:srgbClr val="F0F4F8"/>
                </a:solidFill>
              </a:defRPr>
            </a:pPr>
            <a:r>
              <a:t>Interactive 3D Sea Port Simulation with</a:t>
            </a:r>
            <a:br/>
            <a:r>
              <a:t>Hierarchical Logistics Mechanics &amp; Screen-Space Ray Tracing</a:t>
            </a:r>
          </a:p>
          <a:p>
            <a:pPr algn="ctr">
              <a:spcAft>
                <a:spcPts val="2400"/>
              </a:spcAft>
              <a:defRPr sz="1400" b="1">
                <a:solidFill>
                  <a:srgbClr val="FFD166"/>
                </a:solidFill>
              </a:defRPr>
            </a:pPr>
            <a:r>
              <a:t>Course: CSE 4208 (Computer Graphics and Multimedia Laboratory)</a:t>
            </a:r>
          </a:p>
          <a:p>
            <a:pPr algn="ctr">
              <a:defRPr sz="1200">
                <a:solidFill>
                  <a:srgbClr val="F0F4F8"/>
                </a:solidFill>
              </a:defRPr>
            </a:pPr>
            <a:r>
              <a:t>Core Features: Blinn-Phong Shading | Gouraud vs. Phong | Procedural Quadrics | 6-Level STS Crane | Real-Time Whitted Ray Tracer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Custom 3D Rendering Pipeline &amp; Scene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Core OpenGL Architecture, Perspective Viewing Matrix, and Coordinate Transformations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PIPELINE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Modern Core Profile:</a:t>
            </a:r>
            <a:r>
              <a:rPr b="0" sz="1200">
                <a:solidFill>
                  <a:srgbClr val="B0BECD"/>
                </a:solidFill>
                <a:latin typeface="Arial"/>
              </a:rPr>
              <a:t> Pure OpenGL 3.3 Core with GLSL 330 Shaders (Zero legacy fixed-function pipeline).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Perspective Projection:</a:t>
            </a:r>
            <a:r>
              <a:rPr b="0" sz="1200">
                <a:solidFill>
                  <a:srgbClr val="B0BECD"/>
                </a:solidFill>
                <a:latin typeface="Arial"/>
              </a:rPr>
              <a:t> glm::perspective with 52° vertical FOV, aspect ratio 16:9, near 0.1m, far 320m.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Dual Transformation Pipeline:</a:t>
            </a:r>
            <a:r>
              <a:rPr b="0" sz="1200">
                <a:solidFill>
                  <a:srgbClr val="B0BECD"/>
                </a:solidFill>
                <a:latin typeface="Arial"/>
              </a:rPr>
              <a:t> World-to-Camera View Matrix and Model Space Local Hierarchies.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Multi-Primitive Synthesis:</a:t>
            </a:r>
            <a:r>
              <a:rPr b="0" sz="1200">
                <a:solidFill>
                  <a:srgbClr val="B0BECD"/>
                </a:solidFill>
                <a:latin typeface="Arial"/>
              </a:rPr>
              <a:t> Procedural VAO/VBO creation for cubes, cylinders, quadric cones, rings, sky dome, and water grids.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Hardware Resource Management:</a:t>
            </a:r>
            <a:r>
              <a:rPr b="0" sz="1200">
                <a:solidFill>
                  <a:srgbClr val="B0BECD"/>
                </a:solidFill>
                <a:latin typeface="Arial"/>
              </a:rPr>
              <a:t> Strict zero-leak VBO binding with depth testing enabled.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our rendering engine is written in C++17 and OpenGL 3.3 Core using GLAD and GLFW. Every frame executes modern vertex and fragment shaders with a 52-degree perspective projection matrix spanning 320 meters of harbor terrain without clipping."</a:t>
            </a:r>
          </a:p>
        </p:txBody>
      </p:sp>
      <p:pic>
        <p:nvPicPr>
          <p:cNvPr id="13" name="Picture 12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6793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ILLUMINATION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Physical Directional Lighting &amp; Visible 3D Celestial Sun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Mathematical Sunlight Vector Anchored by an Emissive 3D Sun Primitive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MATHEMATICAL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Physical Source Anchor:</a:t>
            </a:r>
            <a:r>
              <a:rPr b="0" sz="1200">
                <a:solidFill>
                  <a:srgbClr val="B0BECD"/>
                </a:solidFill>
                <a:latin typeface="Arial"/>
              </a:rPr>
              <a:t> Visible 5.2m radiant sun core at (24.0, 275.0, 28.0) with golden corona halos.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Directional Light Vector:</a:t>
            </a:r>
            <a:r>
              <a:rPr b="0" sz="1200">
                <a:solidFill>
                  <a:srgbClr val="B0BECD"/>
                </a:solidFill>
                <a:latin typeface="Arial"/>
              </a:rPr>
              <a:t> L_sun = normalize(vec3(0.35, 0.88, 0.32)), illuminating all horizontal surfaces.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Blinn-Phong Shading:</a:t>
            </a:r>
            <a:r>
              <a:rPr b="0" sz="1200">
                <a:solidFill>
                  <a:srgbClr val="B0BECD"/>
                </a:solidFill>
                <a:latin typeface="Arial"/>
              </a:rPr>
              <a:t> Ambient (I_a * k_a) + Diffuse (I_d * k_d * max(N · L, 0)) + Specular (I_s * k_s * (N · H)^alpha).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Atmospheric Distance Fog:</a:t>
            </a:r>
            <a:r>
              <a:rPr b="0" sz="1200">
                <a:solidFill>
                  <a:srgbClr val="B0BECD"/>
                </a:solidFill>
                <a:latin typeface="Arial"/>
              </a:rPr>
              <a:t> Exponential depth fog blends far water horizon into sky dome color.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Surface Radiance:</a:t>
            </a:r>
            <a:r>
              <a:rPr b="0" sz="1200">
                <a:solidFill>
                  <a:srgbClr val="B0BECD"/>
                </a:solidFill>
                <a:latin typeface="Arial"/>
              </a:rPr>
              <a:t> Diffuse coefficient ensures clear contrast between vertical quay walls and asphalt decks.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our directional sunlight is physically anchored by an emissive 3D sun primitive at 275m altitude. This provides verifiable mathematical lighting with optimal diffuse shading across all horizontal surfaces."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4967935" cy="3474720"/>
          </a:xfrm>
          <a:prstGeom prst="roundRect">
            <a:avLst/>
          </a:prstGeom>
          <a:solidFill>
            <a:srgbClr val="121C3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6021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D166"/>
                </a:solidFill>
              </a:defRPr>
            </a:pPr>
            <a:r>
              <a:t>📷 SCREENSHOT PLACEHOLDER</a:t>
            </a:r>
          </a:p>
          <a:p>
            <a:pPr algn="ctr">
              <a:spcBef>
                <a:spcPts val="600"/>
              </a:spcBef>
              <a:defRPr sz="1100">
                <a:solidFill>
                  <a:srgbClr val="F0F4F8"/>
                </a:solidFill>
              </a:defRPr>
            </a:pPr>
            <a:r>
              <a:t>Look UP at the 3D Sun in Daytime</a:t>
            </a:r>
            <a:br/>
            <a:r>
              <a:t>Show Golden Sun Core &amp; Solar Corona Rings</a:t>
            </a:r>
          </a:p>
          <a:p>
            <a:pPr algn="ctr">
              <a:spcBef>
                <a:spcPts val="800"/>
              </a:spcBef>
              <a:defRPr b="1" sz="1100">
                <a:solidFill>
                  <a:srgbClr val="64FF96"/>
                </a:solidFill>
              </a:defRPr>
            </a:pPr>
            <a:r>
              <a:t>KEY PRESS: Mouse Look UP (Skyward)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SHADING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Gouraud vs. Phong Shading: Vertex vs. Fragment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Comparative Implementation Demonstrating Specular Fidelity and Mach Banding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TECHNICAL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Phong Shading (Key F2):</a:t>
            </a:r>
            <a:r>
              <a:rPr b="0" sz="1200">
                <a:solidFill>
                  <a:srgbClr val="B0BECD"/>
                </a:solidFill>
                <a:latin typeface="Arial"/>
              </a:rPr>
              <a:t> Evaluated in phong.frag per-fragment. Interpolates surface normals for pinpoint Blinn-Phong specular highlights.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Gouraud Shading (Key F1):</a:t>
            </a:r>
            <a:r>
              <a:rPr b="0" sz="1200">
                <a:solidFill>
                  <a:srgbClr val="B0BECD"/>
                </a:solidFill>
                <a:latin typeface="Arial"/>
              </a:rPr>
              <a:t> Evaluated in gouraud.vert per-vertex. Linearly interpolates resulting vertex colors across rasterized triangles.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Halfway Vector H:</a:t>
            </a:r>
            <a:r>
              <a:rPr b="0" sz="1200">
                <a:solidFill>
                  <a:srgbClr val="B0BECD"/>
                </a:solidFill>
                <a:latin typeface="Arial"/>
              </a:rPr>
              <a:t> H = (L + V) / ||L + V|| replaces reflection vector R, optimizing real-time calculation.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Specular Exponent (alpha = 32-128):</a:t>
            </a:r>
            <a:r>
              <a:rPr b="0" sz="1200">
                <a:solidFill>
                  <a:srgbClr val="B0BECD"/>
                </a:solidFill>
                <a:latin typeface="Arial"/>
              </a:rPr>
              <a:t> Highlights metallic containers, water ripples, and crane structure.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Visual Artifacts:</a:t>
            </a:r>
            <a:r>
              <a:rPr b="0" sz="1200">
                <a:solidFill>
                  <a:srgbClr val="B0BECD"/>
                </a:solidFill>
                <a:latin typeface="Arial"/>
              </a:rPr>
              <a:t> Gouraud exhibits noticeable Mach banding and blurred highlights across low-poly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pressing F1 and F2 dynamically switches between vertex-based Gouraud and fragment-based Phong shading. In Phong mode, normal vectors are interpolated per-fragment, eliminating Mach banding and producing realistic specular glints."</a:t>
            </a:r>
          </a:p>
        </p:txBody>
      </p:sp>
      <p:pic>
        <p:nvPicPr>
          <p:cNvPr id="13" name="Picture 12" descr="gouraud_vs_ph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6793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ILLUMINATION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Dynamic Day/Night Cycle &amp; 7-Point Light Attenuation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Nocturnal Lunar Source with Quadratic Distance Attenuation on Street Lamps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NIGHT LIGHTING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Day/Night Cycle (Key N):</a:t>
            </a:r>
            <a:r>
              <a:rPr b="0" sz="1200">
                <a:solidFill>
                  <a:srgbClr val="B0BECD"/>
                </a:solidFill>
                <a:latin typeface="Arial"/>
              </a:rPr>
              <a:t> Toggles sunlight to nocturnal moonlight with deep navy ambient sky dome.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Luminous 3D Moon:</a:t>
            </a:r>
            <a:r>
              <a:rPr b="0" sz="1200">
                <a:solidFill>
                  <a:srgbClr val="B0BECD"/>
                </a:solidFill>
                <a:latin typeface="Arial"/>
              </a:rPr>
              <a:t> Emissive sphere with craters acting as secondary night directional light source.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7 Quayside Street Lamps:</a:t>
            </a:r>
            <a:r>
              <a:rPr b="0" sz="1200">
                <a:solidFill>
                  <a:srgbClr val="B0BECD"/>
                </a:solidFill>
                <a:latin typeface="Arial"/>
              </a:rPr>
              <a:t> Sodium vapor point lights positioned along the 640m expressway.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Quadratic Distance Attenuation:</a:t>
            </a:r>
            <a:r>
              <a:rPr b="0" sz="1200">
                <a:solidFill>
                  <a:srgbClr val="B0BECD"/>
                </a:solidFill>
                <a:latin typeface="Arial"/>
              </a:rPr>
              <a:t> Atten = 1.0 / (k_c + k_l * d + k_q * d^2) where k_c=1.0, k_l=0.14, k_q=0.07.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Light Pools:</a:t>
            </a:r>
            <a:r>
              <a:rPr b="0" sz="1200">
                <a:solidFill>
                  <a:srgbClr val="B0BECD"/>
                </a:solidFill>
                <a:latin typeface="Arial"/>
              </a:rPr>
              <a:t> Illuminates asphalt roadways with natural circular falloff and specular roadway shine.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pressing N toggles our nocturnal lighting. Seven quayside street lamps cast sodium light pools using quadratic distance attenuation, while the visible 3D moon provides secondary directional radiance."</a:t>
            </a:r>
          </a:p>
        </p:txBody>
      </p:sp>
      <p:pic>
        <p:nvPicPr>
          <p:cNvPr id="13" name="Picture 12" descr="light_atten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6793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ILLUMINATION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Focused Crane Spotlight with Smooth Cosine Cutoff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Trolley-Mounted Directional Cone Light for Low-Light Container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SPOTLIGHT 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Dynamic Spatial Anchor:</a:t>
            </a:r>
            <a:r>
              <a:rPr b="0" sz="1200">
                <a:solidFill>
                  <a:srgbClr val="B0BECD"/>
                </a:solidFill>
                <a:latin typeface="Arial"/>
              </a:rPr>
              <a:t> Spotlight origin pinned to crane trolley (8.0, 7.0, trolleyZ), tracking in real time.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Beam Direction:</a:t>
            </a:r>
            <a:r>
              <a:rPr b="0" sz="1200">
                <a:solidFill>
                  <a:srgbClr val="B0BECD"/>
                </a:solidFill>
                <a:latin typeface="Arial"/>
              </a:rPr>
              <a:t> Unit vector (0.0, -1.0, 0.0) projecting directly downward onto vessel cargo and dock bay.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Cutoff Angles:</a:t>
            </a:r>
            <a:r>
              <a:rPr b="0" sz="1200">
                <a:solidFill>
                  <a:srgbClr val="B0BECD"/>
                </a:solidFill>
                <a:latin typeface="Arial"/>
              </a:rPr>
              <a:t> Inner cutoff theta_inner = 18.0°, Outer cutoff theta_outer = 25.0° for smooth edge fade.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Cosine Intensity Factor:</a:t>
            </a:r>
            <a:r>
              <a:rPr b="0" sz="1200">
                <a:solidFill>
                  <a:srgbClr val="B0BECD"/>
                </a:solidFill>
                <a:latin typeface="Arial"/>
              </a:rPr>
              <a:t> I = clamp((cos(theta) - cos(theta_outer)) / (cos(theta_inner) - cos(theta_outer)), 0.0, 1.0).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Operational Benefit:</a:t>
            </a:r>
            <a:r>
              <a:rPr b="0" sz="1200">
                <a:solidFill>
                  <a:srgbClr val="B0BECD"/>
                </a:solidFill>
                <a:latin typeface="Arial"/>
              </a:rPr>
              <a:t> High-contrast illumination for precision alignment during nocturnal loading.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the crane trolley houses a downward spotlight with smooth cosine cutoff angles. As the operator drives the trolley, the spotlight tracks dynamically, projecting a sharp worklight beam over the active cargo."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4967935" cy="3474720"/>
          </a:xfrm>
          <a:prstGeom prst="roundRect">
            <a:avLst/>
          </a:prstGeom>
          <a:solidFill>
            <a:srgbClr val="121C3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6021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D166"/>
                </a:solidFill>
              </a:defRPr>
            </a:pPr>
            <a:r>
              <a:t>📷 SCREENSHOT PLACEHOLDER</a:t>
            </a:r>
          </a:p>
          <a:p>
            <a:pPr algn="ctr">
              <a:spcBef>
                <a:spcPts val="600"/>
              </a:spcBef>
              <a:defRPr sz="1100">
                <a:solidFill>
                  <a:srgbClr val="F0F4F8"/>
                </a:solidFill>
              </a:defRPr>
            </a:pPr>
            <a:r>
              <a:t>Night Crane Spotlight Projection</a:t>
            </a:r>
            <a:br/>
            <a:r>
              <a:t>Downward Conical Light Beam on Vessel &amp; Lorry</a:t>
            </a:r>
          </a:p>
          <a:p>
            <a:pPr algn="ctr">
              <a:spcBef>
                <a:spcPts val="800"/>
              </a:spcBef>
              <a:defRPr b="1" sz="1100">
                <a:solidFill>
                  <a:srgbClr val="64FF96"/>
                </a:solidFill>
              </a:defRPr>
            </a:pPr>
            <a:r>
              <a:t>KEY PRESS: Press N -&gt; Look under Crane Trolley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GEOMETRIC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Procedural 3D Geometric Primitives &amp; Quadric Cones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Mathematical Parametric Geometry Synthesis without External 3D Asset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PRIMITIVE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Zero External Files:</a:t>
            </a:r>
            <a:r>
              <a:rPr b="0" sz="1200">
                <a:solidFill>
                  <a:srgbClr val="B0BECD"/>
                </a:solidFill>
                <a:latin typeface="Arial"/>
              </a:rPr>
              <a:t> All meshes procedurally generated in C++ code using analytical math.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Analytical Cone Quadric:</a:t>
            </a:r>
            <a:r>
              <a:rPr b="0" sz="1200">
                <a:solidFill>
                  <a:srgbClr val="B0BECD"/>
                </a:solidFill>
                <a:latin typeface="Arial"/>
              </a:rPr>
              <a:t> Parametric vertex rings from apex (y=h) to base (y=0) with outward normals.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Marine Channel Buoys:</a:t>
            </a:r>
            <a:r>
              <a:rPr b="0" sz="1200">
                <a:solidFill>
                  <a:srgbClr val="B0BECD"/>
                </a:solidFill>
                <a:latin typeface="Arial"/>
              </a:rPr>
              <a:t> Starboard Green and Port Red conical floating buoys in the water canal.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Roadway Traffic Cones:</a:t>
            </a:r>
            <a:r>
              <a:rPr b="0" sz="1200">
                <a:solidFill>
                  <a:srgbClr val="B0BECD"/>
                </a:solidFill>
                <a:latin typeface="Arial"/>
              </a:rPr>
              <a:t> High-visibility orange cones with reflective white safety bands.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Complete Suite:</a:t>
            </a:r>
            <a:r>
              <a:rPr b="0" sz="1200">
                <a:solidFill>
                  <a:srgbClr val="B0BECD"/>
                </a:solidFill>
                <a:latin typeface="Arial"/>
              </a:rPr>
              <a:t> Cube (dock, warehouse), Cylinder (masts, legs), Sphere (buoys, sun, moon), Ring (lifebuoys).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every object in this simulation is procedurally generated using analytical geometry formulas. You can see our Cone and Ring primitives functioning as maritime navigational buoys and roadway safety markers."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4967935" cy="3474720"/>
          </a:xfrm>
          <a:prstGeom prst="roundRect">
            <a:avLst/>
          </a:prstGeom>
          <a:solidFill>
            <a:srgbClr val="121C3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6021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D166"/>
                </a:solidFill>
              </a:defRPr>
            </a:pPr>
            <a:r>
              <a:t>📷 SCREENSHOT PLACEHOLDER</a:t>
            </a:r>
          </a:p>
          <a:p>
            <a:pPr algn="ctr">
              <a:spcBef>
                <a:spcPts val="600"/>
              </a:spcBef>
              <a:defRPr sz="1100">
                <a:solidFill>
                  <a:srgbClr val="F0F4F8"/>
                </a:solidFill>
              </a:defRPr>
            </a:pPr>
            <a:r>
              <a:t>Conical Buoys on Water &amp; Traffic Cones on Road</a:t>
            </a:r>
            <a:br/>
            <a:r>
              <a:t>Show analytical cone quadrics and circular bases</a:t>
            </a:r>
          </a:p>
          <a:p>
            <a:pPr algn="ctr">
              <a:spcBef>
                <a:spcPts val="800"/>
              </a:spcBef>
              <a:defRPr b="1" sz="1100">
                <a:solidFill>
                  <a:srgbClr val="64FF96"/>
                </a:solidFill>
              </a:defRPr>
            </a:pPr>
            <a:r>
              <a:t>KEY PRESS: Walk near Water Canal / Dock Road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KINEMATIC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6-Level Hierarchical Kinematics: Ship-to-Shore Crane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Parent-Child Transformation Scene Graph with Coordinated Matrix Stacks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KINEMATIC HIERARCHY 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Level 1 - Gantry Portal Base:</a:t>
            </a:r>
            <a:r>
              <a:rPr b="0" sz="1200">
                <a:solidFill>
                  <a:srgbClr val="B0BECD"/>
                </a:solidFill>
                <a:latin typeface="Arial"/>
              </a:rPr>
              <a:t> T(8.0, 0.0, 8.35) portal legs spanning quayside roadway.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Level 2 - Slewing Machinery Turret:</a:t>
            </a:r>
            <a:r>
              <a:rPr b="0" sz="1200">
                <a:solidFill>
                  <a:srgbClr val="B0BECD"/>
                </a:solidFill>
                <a:latin typeface="Arial"/>
              </a:rPr>
              <a:t> R_y(slewingYaw) vertical rotation around Y-axis.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Level 3 - Horizontal Boom Arm:</a:t>
            </a:r>
            <a:r>
              <a:rPr b="0" sz="1200">
                <a:solidFill>
                  <a:srgbClr val="B0BECD"/>
                </a:solidFill>
                <a:latin typeface="Arial"/>
              </a:rPr>
              <a:t> 22-meter truss boom extending from canal fairway to dock apron.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Level 4 - Mobile Trolley:</a:t>
            </a:r>
            <a:r>
              <a:rPr b="0" sz="1200">
                <a:solidFill>
                  <a:srgbClr val="B0BECD"/>
                </a:solidFill>
                <a:latin typeface="Arial"/>
              </a:rPr>
              <a:t> T(0, -0.65, trolleyRelZ) traversing from Z=-1.5m to Z=15.5m.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Level 5 - Hoist Wire Cables &amp; Spreader:</a:t>
            </a:r>
            <a:r>
              <a:rPr b="0" sz="1200">
                <a:solidFill>
                  <a:srgbClr val="B0BECD"/>
                </a:solidFill>
                <a:latin typeface="Arial"/>
              </a:rPr>
              <a:t> Dual cables dynamically scaled by cableLength with twistlock frame.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Level 6 - Intermodal Cargo Container:</a:t>
            </a:r>
            <a:r>
              <a:rPr b="0" sz="1200">
                <a:solidFill>
                  <a:srgbClr val="B0BECD"/>
                </a:solidFill>
                <a:latin typeface="Arial"/>
              </a:rPr>
              <a:t> Secured container transforms synchronously with spreader hook.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the STS crane represents a 6-level kinematic transformation tree. When the operator slews the cab or moves the trolley, all child nodes—cables, spreader, and cargo—inherit parent matrices synchronously."</a:t>
            </a:r>
          </a:p>
        </p:txBody>
      </p:sp>
      <p:pic>
        <p:nvPicPr>
          <p:cNvPr id="13" name="Picture 12" descr="crane_hierarch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6793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INTERACTIVE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1st-Person Operator Cockpit &amp; Dynamic Sightline Zoom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Repositioned Fairway Geometry (Z=0.5m) and Real-Time FOV Zoom (32° to 85°)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OPERATOR INTERFACE &amp; GEOMETRY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Vessel Repositioned to Z=0.5m:</a:t>
            </a:r>
            <a:r>
              <a:rPr b="0" sz="1200">
                <a:solidFill>
                  <a:srgbClr val="B0BECD"/>
                </a:solidFill>
                <a:latin typeface="Arial"/>
              </a:rPr>
              <a:t> Solved windshield obstruction by providing an unobstructed 60° downward sightline.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Dynamic Zoom System:</a:t>
            </a:r>
            <a:r>
              <a:rPr b="0" sz="1200">
                <a:solidFill>
                  <a:srgbClr val="B0BECD"/>
                </a:solidFill>
                <a:latin typeface="Arial"/>
              </a:rPr>
              <a:t> Scroll wheel or Z/X keys smoothly adjust cabin FOV between 32° (close-up) and 85° (wide panoramic).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Active Target Cargo System:</a:t>
            </a:r>
            <a:r>
              <a:rPr b="0" sz="1200">
                <a:solidFill>
                  <a:srgbClr val="B0BECD"/>
                </a:solidFill>
                <a:latin typeface="Arial"/>
              </a:rPr>
              <a:t> Pulsing gold-to-green vertical laser beacon and bounding box highlights selected container.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Panoramic Cabin POV:</a:t>
            </a:r>
            <a:r>
              <a:rPr b="0" sz="1200">
                <a:solidFill>
                  <a:srgbClr val="B0BECD"/>
                </a:solidFill>
                <a:latin typeface="Arial"/>
              </a:rPr>
              <a:t> 360° mouse-look inside glass operator cockpit with dual illuminated joysticks and telemetry screens.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HUD Telemetry:</a:t>
            </a:r>
            <a:r>
              <a:rPr b="0" sz="1200">
                <a:solidFill>
                  <a:srgbClr val="B0BECD"/>
                </a:solidFill>
                <a:latin typeface="Arial"/>
              </a:rPr>
              <a:t> Real-time digital readouts for trolley travel (m), hoist altitude (m), payload status, and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pressing C places the user inside the 1st-person crane cockpit. We solved close-quarter camera obstruction by moving the vessel to Z=0.5m and adding dynamic FOV zoom via Z/X keys and mouse scroll."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4967935" cy="3474720"/>
          </a:xfrm>
          <a:prstGeom prst="roundRect">
            <a:avLst/>
          </a:prstGeom>
          <a:solidFill>
            <a:srgbClr val="121C3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6021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D166"/>
                </a:solidFill>
              </a:defRPr>
            </a:pPr>
            <a:r>
              <a:t>📷 SCREENSHOT PLACEHOLDER</a:t>
            </a:r>
          </a:p>
          <a:p>
            <a:pPr algn="ctr">
              <a:spcBef>
                <a:spcPts val="600"/>
              </a:spcBef>
              <a:defRPr sz="1100">
                <a:solidFill>
                  <a:srgbClr val="F0F4F8"/>
                </a:solidFill>
              </a:defRPr>
            </a:pPr>
            <a:r>
              <a:t>1st-Person Cabin View looking down at Vessel</a:t>
            </a:r>
            <a:br/>
            <a:r>
              <a:t>Show Target Beacon, Cargo Stacks &amp; Console</a:t>
            </a:r>
          </a:p>
          <a:p>
            <a:pPr algn="ctr">
              <a:spcBef>
                <a:spcPts val="800"/>
              </a:spcBef>
              <a:defRPr b="1" sz="1100">
                <a:solidFill>
                  <a:srgbClr val="64FF96"/>
                </a:solidFill>
              </a:defRPr>
            </a:pPr>
            <a:r>
              <a:t>KEY PRESS: Press C (Enter Cab) -&gt; Zoom via Scroll/X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INTERACTIVE GAMEPLAY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3-Perspective Multi-Camera &amp; Cargo Lorry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Tactical Orbit Overview, Precision Drop Cam, and Drivable Roadway Transport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CAMERA MODES &amp; LOGISTICS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3-Camera Cycling (Key V):</a:t>
            </a:r>
            <a:r>
              <a:rPr b="0" sz="1200">
                <a:solidFill>
                  <a:srgbClr val="B0BECD"/>
                </a:solidFill>
                <a:latin typeface="Arial"/>
              </a:rPr>
              <a:t> Seamlessly toggles 1st-Person Cabin -&gt; 3rd-Person Orbit Overview -&gt; Precision Drop Cam.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Tactical Orbit Overview:</a:t>
            </a:r>
            <a:r>
              <a:rPr b="0" sz="1200">
                <a:solidFill>
                  <a:srgbClr val="B0BECD"/>
                </a:solidFill>
                <a:latin typeface="Arial"/>
              </a:rPr>
              <a:t> 360° orbital rotation with adjustable camera distance (10m to 65m) for presentation demos.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Repositioned Unload Bay (Z=13.5m):</a:t>
            </a:r>
            <a:r>
              <a:rPr b="0" sz="1200">
                <a:solidFill>
                  <a:srgbClr val="B0BECD"/>
                </a:solidFill>
                <a:latin typeface="Arial"/>
              </a:rPr>
              <a:t> Moved clear of gantry legs onto dock road, providing 100% rear window visibility.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Cargo Deposit &amp; Lorry Transfer (Key Space):</a:t>
            </a:r>
            <a:r>
              <a:rPr b="0" sz="1200">
                <a:solidFill>
                  <a:srgbClr val="B0BECD"/>
                </a:solidFill>
                <a:latin typeface="Arial"/>
              </a:rPr>
              <a:t> Lowers container onto flatbed trailer (+500 points).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Drivable Cargo Lorry (Key L):</a:t>
            </a:r>
            <a:r>
              <a:rPr b="0" sz="1200">
                <a:solidFill>
                  <a:srgbClr val="B0BECD"/>
                </a:solidFill>
                <a:latin typeface="Arial"/>
              </a:rPr>
              <a:t> Operator jumps into truck cab with Ackerman steering, acceleration, braking, and depot delivery (+1000 pts).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the V key switches dynamically between cabin, 3rd-person tactical orbit, and downward drop cam. After loading the container, pressing L allows the player to drive the transport lorry across the quayside."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45920"/>
            <a:ext cx="4967935" cy="3474720"/>
          </a:xfrm>
          <a:prstGeom prst="roundRect">
            <a:avLst/>
          </a:prstGeom>
          <a:solidFill>
            <a:srgbClr val="121C3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6021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300">
                <a:solidFill>
                  <a:srgbClr val="FFD166"/>
                </a:solidFill>
              </a:defRPr>
            </a:pPr>
            <a:r>
              <a:t>📷 SCREENSHOT PLACEHOLDER</a:t>
            </a:r>
          </a:p>
          <a:p>
            <a:pPr algn="ctr">
              <a:spcBef>
                <a:spcPts val="600"/>
              </a:spcBef>
              <a:defRPr sz="1100">
                <a:solidFill>
                  <a:srgbClr val="F0F4F8"/>
                </a:solidFill>
              </a:defRPr>
            </a:pPr>
            <a:r>
              <a:t>3rd-Person Tactical Orbit Overview</a:t>
            </a:r>
            <a:br/>
            <a:r>
              <a:t>Show Crane, Vessel, Hoisted Cargo &amp; Lorry</a:t>
            </a:r>
          </a:p>
          <a:p>
            <a:pPr algn="ctr">
              <a:spcBef>
                <a:spcPts val="800"/>
              </a:spcBef>
              <a:defRPr b="1" sz="1100">
                <a:solidFill>
                  <a:srgbClr val="64FF96"/>
                </a:solidFill>
              </a:defRPr>
            </a:pPr>
            <a:r>
              <a:t>KEY PRESS: Press C -&gt; Press V (Orbit View)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ADVANCED BONUS (+10 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Real-Time Whitted Ray Tracing Shader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Full-Screen GLSL Ray Tracer: Analytical Spheres, Hard Shadows &amp; Specular Bounces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RAY TRACING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Bonus Mode Activation (Key R / F9):</a:t>
            </a:r>
            <a:r>
              <a:rPr b="0" sz="1200">
                <a:solidFill>
                  <a:srgbClr val="B0BECD"/>
                </a:solidFill>
                <a:latin typeface="Arial"/>
              </a:rPr>
              <a:t> Switches pipeline to full-screen Whitted ray tracing quad.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Primary Ray Generation:</a:t>
            </a:r>
            <a:r>
              <a:rPr b="0" sz="1200">
                <a:solidFill>
                  <a:srgbClr val="B0BECD"/>
                </a:solidFill>
                <a:latin typeface="Arial"/>
              </a:rPr>
              <a:t> P(t) = O + t * D generated from normalized screen coordinates and camera orientation.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Analytical Sphere Intersection:</a:t>
            </a:r>
            <a:r>
              <a:rPr b="0" sz="1200">
                <a:solidFill>
                  <a:srgbClr val="B0BECD"/>
                </a:solidFill>
                <a:latin typeface="Arial"/>
              </a:rPr>
              <a:t> Solves quadratic equation a*t^2 + b*t + c = 0 via discriminant check.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Hard Shadow Rays:</a:t>
            </a:r>
            <a:r>
              <a:rPr b="0" sz="1200">
                <a:solidFill>
                  <a:srgbClr val="B0BECD"/>
                </a:solidFill>
                <a:latin typeface="Arial"/>
              </a:rPr>
              <a:t> Casts occlusion ray from hit point toward light source, delivering photorealistic shadows.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Recursive Specular Reflection:</a:t>
            </a:r>
            <a:r>
              <a:rPr b="0" sz="1200">
                <a:solidFill>
                  <a:srgbClr val="B0BECD"/>
                </a:solidFill>
                <a:latin typeface="Arial"/>
              </a:rPr>
              <a:t> R = D - 2*(D · N)*N creates mirror chrome sphere reflections and reflective water floor.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Real-Time Performance:</a:t>
            </a:r>
            <a:r>
              <a:rPr b="0" sz="1200">
                <a:solidFill>
                  <a:srgbClr val="B0BECD"/>
                </a:solidFill>
                <a:latin typeface="Arial"/>
              </a:rPr>
              <a:t> Highly optimized GLSL fragment shader runs at stable 60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as our advanced bonus feature, pressing R/F9 activates a pure GLSL screen-space Whitted ray tracing shader. It calculates primary rays, analytical sphere intersections, hard shadow rays, and recursive mirror reflection bounces at 60 FPS."</a:t>
            </a:r>
          </a:p>
        </p:txBody>
      </p:sp>
      <p:pic>
        <p:nvPicPr>
          <p:cNvPr id="13" name="Picture 12" descr="raytrac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6793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CSE 4208 • COMPUTER GRAPHICS &amp; MULTIMEDIA LAB  |  SUMMARY &amp;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166"/>
                </a:solidFill>
                <a:latin typeface="Arial"/>
              </a:defRPr>
            </a:pPr>
            <a:r>
              <a:t>SLIDE 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Performance Benchmarks, Technical Challenges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ECD"/>
                </a:solidFill>
                <a:latin typeface="Arial"/>
              </a:defRPr>
            </a:pPr>
            <a:r>
              <a:t>Summary of Achievements, Verified Rubric Mapping, and Viva Defense Q/A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486400" cy="3474720"/>
          </a:xfrm>
          <a:prstGeom prst="roundRect">
            <a:avLst/>
          </a:prstGeom>
          <a:solidFill>
            <a:srgbClr val="18223A"/>
          </a:solidFill>
          <a:ln w="15240">
            <a:solidFill>
              <a:srgbClr val="2D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66"/>
                </a:solidFill>
                <a:latin typeface="Arial"/>
              </a:defRPr>
            </a:pPr>
            <a:r>
              <a:t>PERFORMANCE &amp; VERIFICATION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Rock-Solid 60 FPS:</a:t>
            </a:r>
            <a:r>
              <a:rPr b="0" sz="1200">
                <a:solidFill>
                  <a:srgbClr val="B0BECD"/>
                </a:solidFill>
                <a:latin typeface="Arial"/>
              </a:rPr>
              <a:t> Smooth execution under V-Sync on standard GPU hardware with zero frame stuttering.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Zero Polygon Clipping:</a:t>
            </a:r>
            <a:r>
              <a:rPr b="0" sz="1200">
                <a:solidFill>
                  <a:srgbClr val="B0BECD"/>
                </a:solidFill>
                <a:latin typeface="Arial"/>
              </a:rPr>
              <a:t> Dynamic near-plane tuning (0.1m) and repositioned canal spacing prevent clipping.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100% Evaluation Rubric Compliance:</a:t>
            </a:r>
            <a:r>
              <a:rPr b="0" sz="1200">
                <a:solidFill>
                  <a:srgbClr val="B0BECD"/>
                </a:solidFill>
                <a:latin typeface="Arial"/>
              </a:rPr>
              <a:t> All required light types, shading comparisons, quadrics, and hierarchies implemented.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Gamified Logistics Flow:</a:t>
            </a:r>
            <a:r>
              <a:rPr b="0" sz="1200">
                <a:solidFill>
                  <a:srgbClr val="B0BECD"/>
                </a:solidFill>
                <a:latin typeface="Arial"/>
              </a:rPr>
              <a:t> Interactive crane operator cabin, drivable transport truck, automated cycle, and scoring system.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0F4F8"/>
                </a:solidFill>
                <a:latin typeface="Arial"/>
              </a:rPr>
              <a:t>• Advanced Extension Delivered:</a:t>
            </a:r>
            <a:r>
              <a:rPr b="0" sz="1200">
                <a:solidFill>
                  <a:srgbClr val="B0BECD"/>
                </a:solidFill>
                <a:latin typeface="Arial"/>
              </a:rPr>
              <a:t> Real-time screen-space Whitted ray tracer earning top-bracket bonus 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11887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104543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0E5FF"/>
                </a:solidFill>
                <a:latin typeface="Arial"/>
              </a:defRPr>
            </a:pPr>
            <a:r>
              <a:t>🎤 VIVA DEFENSE SCRIPT (WHAT TO SAY TO TEACHER):</a:t>
            </a:r>
          </a:p>
          <a:p>
            <a:pPr>
              <a:defRPr i="1" sz="1100">
                <a:solidFill>
                  <a:srgbClr val="F0F4F8"/>
                </a:solidFill>
                <a:latin typeface="Georgia"/>
              </a:defRPr>
            </a:pPr>
            <a:r>
              <a:t>"Sir, to conclude, our 3D Sea Port simulation fulfills every teacher grading rubric requirement. We achieved high visual realism, zero clipping, smooth 60 FPS performance, and delivered full real-time ray tracing. Thank you, and we welcome your questions!"</a:t>
            </a:r>
          </a:p>
        </p:txBody>
      </p:sp>
      <p:pic>
        <p:nvPicPr>
          <p:cNvPr id="13" name="Picture 12" descr="coord_trans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67935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